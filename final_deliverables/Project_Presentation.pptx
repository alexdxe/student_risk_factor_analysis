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3.png"/><Relationship Id="rId6" Type="http://schemas.openxmlformats.org/officeDocument/2006/relationships/image" Target="../media/image-5-4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237655"/>
            <a:ext cx="3287241" cy="2668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How Crime Shapes Students Fear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analysis of the 2022 School Crime Supplement examining which student experiences most strongly predict fear of violence at school.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114425"/>
            <a:ext cx="2914650" cy="29146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925119" y="443731"/>
            <a:ext cx="988591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5" name="Text 1"/>
          <p:cNvSpPr/>
          <p:nvPr/>
        </p:nvSpPr>
        <p:spPr>
          <a:xfrm>
            <a:off x="4010174" y="486221"/>
            <a:ext cx="12756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925119" y="766837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Fear of Being Attacked Remains a Meaningful Safety Issue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3925119" y="1759000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5%</a:t>
            </a:r>
            <a:endParaRPr lang="en-US" sz="3650" dirty="0"/>
          </a:p>
        </p:txBody>
      </p:sp>
      <p:sp>
        <p:nvSpPr>
          <p:cNvPr id="8" name="Text 4"/>
          <p:cNvSpPr/>
          <p:nvPr/>
        </p:nvSpPr>
        <p:spPr>
          <a:xfrm>
            <a:off x="5376044" y="2403946"/>
            <a:ext cx="1820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Students Fear Attack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925119" y="278487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 safety directly impacts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attendance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learning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pPr algn="ctr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student well-being.</a:t>
            </a:r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Despite widespread safety initiatives, fear persists, making deeper analysis essential.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925119" y="3660204"/>
            <a:ext cx="4722763" cy="4763"/>
          </a:xfrm>
          <a:prstGeom prst="roundRect">
            <a:avLst>
              <a:gd name="adj" fmla="val 239975"/>
            </a:avLst>
          </a:prstGeom>
          <a:solidFill>
            <a:srgbClr val="746558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25119" y="3859857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Research Question:</a:t>
            </a:r>
            <a:endParaRPr lang="en-US" sz="11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“Which crime and school behavioral exposures are associated with the highest levels of fear among US students?”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915"/>
            <a:ext cx="671736" cy="233660"/>
          </a:xfrm>
          <a:prstGeom prst="roundRect">
            <a:avLst>
              <a:gd name="adj" fmla="val 6598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33388"/>
            <a:ext cx="974899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75084"/>
            <a:ext cx="734340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Nationwide Survey Allows Comparison of Risk Factors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01800"/>
            <a:ext cx="4427041" cy="3315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41354" y="1433512"/>
            <a:ext cx="344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2022 School Crime Supplement (SCS)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41354" y="1750591"/>
            <a:ext cx="3411215" cy="88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SCS is a nationally representative survey of U.S. students ages 12–18, capturing a wide range of school-related experiences.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The Cleaned/Processed Dataset Includes: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41354" y="2743870"/>
            <a:ext cx="3411215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4,589 students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across the United States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45 cleaned variables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covering school climate, victimization, and environmental risk</a:t>
            </a:r>
            <a:endParaRPr lang="en-US" sz="1000" dirty="0"/>
          </a:p>
          <a:p>
            <a:pPr algn="l" lvl="1" marL="406400" indent="-203200">
              <a:lnSpc>
                <a:spcPct val="127000"/>
              </a:lnSpc>
              <a:buSzPct val="100000"/>
              <a:buChar char="◦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Four major risk categories organized for comparative analysis (verbal/physical bullying, drug availability, crime exposure)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41354" y="4105647"/>
            <a:ext cx="341121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dataset enables comparisons to how different school experiences relate to fear of being attacked.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0153"/>
            <a:ext cx="1321743" cy="223317"/>
          </a:xfrm>
          <a:prstGeom prst="roundRect">
            <a:avLst>
              <a:gd name="adj" fmla="val 666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27360"/>
            <a:ext cx="163011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DESCRIPTIVE FINDINGS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6853"/>
            <a:ext cx="781600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Environmental Exposures Are More Common Than Bullying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1719"/>
            <a:ext cx="3924598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7519" y="4198665"/>
            <a:ext cx="438179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1: Bar Graph Displaying Average Occurrence of Each Risk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728046" y="1870100"/>
            <a:ext cx="21557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Students Report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8046" y="2172444"/>
            <a:ext cx="3924598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chart shows students experience a mix of environmental and interpersonal risks.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crime exposure, such as witnessing violence or seeing weapons, is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more frequently reported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than any form of bullying. 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28046" y="3136255"/>
            <a:ext cx="3924598" cy="554980"/>
          </a:xfrm>
          <a:prstGeom prst="roundRect">
            <a:avLst>
              <a:gd name="adj" fmla="val 3353"/>
            </a:avLst>
          </a:prstGeom>
          <a:solidFill>
            <a:srgbClr val="ECE6D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20" y="3278014"/>
            <a:ext cx="123974" cy="991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99968" y="3264843"/>
            <a:ext cx="3428702" cy="297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Frequency alone does not determine which experiences are most associated with fear. That requires examining relationships, not just rates.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96119" y="4567238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068"/>
            <a:ext cx="934269" cy="177850"/>
          </a:xfrm>
          <a:prstGeom prst="roundRect">
            <a:avLst>
              <a:gd name="adj" fmla="val 7025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58552" y="435248"/>
            <a:ext cx="126660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RELATIONSHIP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12428"/>
            <a:ext cx="8151763" cy="52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Bullying Shows a Stronger Association With Fear Than Environmental Exposures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1247552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clear pattern emerges: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interpersonal victimization is more strongly linked to fear than environmental exposure.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3886"/>
            <a:ext cx="4201046" cy="624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556" y="1778571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3250" y="168227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Verbal Bullying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3250" y="1921371"/>
            <a:ext cx="357552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strongest association with fear among all measured factors (r =0.33)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64941"/>
            <a:ext cx="4201046" cy="7647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556" y="2549723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3250" y="238333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Physical Bullying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03250" y="2622426"/>
            <a:ext cx="357552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Also shows a meaningful association, though weaker than verbal bullying. (r = 0.28)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06117"/>
            <a:ext cx="4201046" cy="76475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556" y="3390900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3250" y="3224510"/>
            <a:ext cx="228696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Crime Exposure &amp; Drug Availability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03250" y="3463603"/>
            <a:ext cx="357552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More commonly reported, but show notably weaker relationships with fear of being attacked. (r = 0.12/19)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955828" y="1546696"/>
            <a:ext cx="415394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5828" y="1777082"/>
            <a:ext cx="2677939" cy="22152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27228" y="4078263"/>
            <a:ext cx="41539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2: Bar chart Displaying Correlation of Each Risk to Fear.</a:t>
            </a:r>
            <a:endParaRPr lang="en-US" sz="650" dirty="0"/>
          </a:p>
        </p:txBody>
      </p:sp>
      <p:sp>
        <p:nvSpPr>
          <p:cNvPr id="21" name="Shape 15"/>
          <p:cNvSpPr/>
          <p:nvPr/>
        </p:nvSpPr>
        <p:spPr>
          <a:xfrm>
            <a:off x="496119" y="4348460"/>
            <a:ext cx="8151763" cy="304949"/>
          </a:xfrm>
          <a:prstGeom prst="roundRect">
            <a:avLst>
              <a:gd name="adj" fmla="val 5121"/>
            </a:avLst>
          </a:prstGeom>
          <a:solidFill>
            <a:srgbClr val="ECE6D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24" y="4451226"/>
            <a:ext cx="104105" cy="832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434" y="4443189"/>
            <a:ext cx="81925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Although correlation measures association, it does not quantify impact. Logistic Regression allows us to estimate the unique impact of each factor, while controlling others.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9594"/>
            <a:ext cx="1046634" cy="218033"/>
          </a:xfrm>
          <a:prstGeom prst="roundRect">
            <a:avLst>
              <a:gd name="adj" fmla="val 6705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596131"/>
            <a:ext cx="135768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PRIMARY FINDING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19448"/>
            <a:ext cx="8536558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Verbal Bullying Is the Strongest Predictor to Fear of Being Attacked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8687"/>
            <a:ext cx="3335834" cy="2589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105573"/>
            <a:ext cx="3335834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 3: Scatterplot Displaying Odd Ratios of Risks Related to Fear.</a:t>
            </a:r>
            <a:endParaRPr lang="en-US" sz="7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           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133924" y="2040434"/>
            <a:ext cx="386804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Even After Controlling for All Other Factors…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33924" y="2335411"/>
            <a:ext cx="45186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Verbal bullying remains the </a:t>
            </a:r>
            <a:pPr algn="l" indent="0" marL="0">
              <a:lnSpc>
                <a:spcPct val="124000"/>
              </a:lnSpc>
              <a:buNone/>
            </a:pPr>
            <a:r>
              <a:rPr lang="en-US" sz="950" u="sng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strongest predictor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 fear, with students who experience it showing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17× higher odds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 fearing an attack at school.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33924" y="2792016"/>
            <a:ext cx="45186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While physical bullying and crime exposure are important factors, verbal bullying's effects are more than 3 times larger. 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33924" y="3272135"/>
            <a:ext cx="4518645" cy="539204"/>
          </a:xfrm>
          <a:prstGeom prst="roundRect">
            <a:avLst>
              <a:gd name="adj" fmla="val 3389"/>
            </a:avLst>
          </a:prstGeom>
          <a:solidFill>
            <a:srgbClr val="ECE6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740" y="3411513"/>
            <a:ext cx="121816" cy="97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9372" y="3396779"/>
            <a:ext cx="4031382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Note: The model demonstrates strong classification (AUC = 0.82), meaning students who fear being attacked usually receive higher predicted risk scores than students who do not. 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7996"/>
            <a:ext cx="1179314" cy="266402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0487"/>
            <a:ext cx="146640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102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Fear Appears More Influenced by Peer Experiences Than Environmental Conditions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22752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This Suggests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638425"/>
            <a:ext cx="4412754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 districts should prioritize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 preventing harmful interpersonal experiences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as these events often lead to fostering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feelings of vulnerability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personal threat.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While it’s still important to prevent crimes such as drug availability and crime exposure, both are not nearly as detrimental to a student’s safety as verbal bullying.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9512" y="1921892"/>
            <a:ext cx="3393058" cy="2544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658"/>
            <a:ext cx="790724" cy="218033"/>
          </a:xfrm>
          <a:prstGeom prst="roundRect">
            <a:avLst>
              <a:gd name="adj" fmla="val 6705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464195"/>
            <a:ext cx="110177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7512"/>
            <a:ext cx="81517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Reducing Verbal Bullying May Be the Most Effective Path to Improving Perceived Safety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96119" y="1483965"/>
            <a:ext cx="8151763" cy="4763"/>
          </a:xfrm>
          <a:prstGeom prst="roundRect">
            <a:avLst>
              <a:gd name="adj" fmla="val 179981"/>
            </a:avLst>
          </a:prstGeom>
          <a:solidFill>
            <a:srgbClr val="746558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519" y="1636886"/>
            <a:ext cx="8608963" cy="22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Conclusion: </a:t>
            </a:r>
            <a:pPr algn="ctr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Across all analyses, </a:t>
            </a:r>
            <a:pPr algn="ctr" indent="0" marL="0">
              <a:lnSpc>
                <a:spcPct val="124000"/>
              </a:lnSpc>
              <a:buNone/>
            </a:pPr>
            <a:r>
              <a:rPr lang="en-US" sz="1150" u="sng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verbal bullying</a:t>
            </a:r>
            <a:pPr algn="ctr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was the strongest factor associated with fear of being attacked.</a:t>
            </a:r>
            <a:pPr algn="ctr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 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6119" y="2011561"/>
            <a:ext cx="8151763" cy="4763"/>
          </a:xfrm>
          <a:prstGeom prst="roundRect">
            <a:avLst>
              <a:gd name="adj" fmla="val 179981"/>
            </a:avLst>
          </a:prstGeom>
          <a:solidFill>
            <a:srgbClr val="746558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5875" y="2203772"/>
            <a:ext cx="229225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Recommendations: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6119" y="2589237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617934" y="2711053"/>
            <a:ext cx="265330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Strengthen Anti-Bullying Programs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934" y="2964210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verbal aggression explicitly.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4313" y="2589237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4746129" y="2711053"/>
            <a:ext cx="208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Improve Reporting Systems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46129" y="2964210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Make it easier for students to report bullying experiences.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371850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</p:sp>
      <p:sp>
        <p:nvSpPr>
          <p:cNvPr id="16" name="Text 14"/>
          <p:cNvSpPr/>
          <p:nvPr/>
        </p:nvSpPr>
        <p:spPr>
          <a:xfrm>
            <a:off x="617934" y="3493666"/>
            <a:ext cx="21803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Support Vulnerable Students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934" y="3746822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early intervention for students at risk.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4313" y="3371850"/>
            <a:ext cx="4023568" cy="677987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</p:sp>
      <p:sp>
        <p:nvSpPr>
          <p:cNvPr id="19" name="Text 17"/>
          <p:cNvSpPr/>
          <p:nvPr/>
        </p:nvSpPr>
        <p:spPr>
          <a:xfrm>
            <a:off x="4746129" y="3493666"/>
            <a:ext cx="220340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Build Positive School Climate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46129" y="3746822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Foster peer relationships to reduce interpersonal risk.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4167560"/>
            <a:ext cx="8151763" cy="430485"/>
          </a:xfrm>
          <a:prstGeom prst="roundRect">
            <a:avLst>
              <a:gd name="adj" fmla="val 4245"/>
            </a:avLst>
          </a:prstGeom>
          <a:solidFill>
            <a:srgbClr val="FCF2B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34" y="4337000"/>
            <a:ext cx="152251" cy="1218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2001" y="4292203"/>
            <a:ext cx="809126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Limitation: Our study implies associations, not causation. These findings should inform  (not replace) experimental research.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2026-06-24T18:40:19Z</dcterms:created>
  <dcterms:modified xsi:type="dcterms:W3CDTF">2026-06-24T18:40:19Z</dcterms:modified>
</cp:coreProperties>
</file>